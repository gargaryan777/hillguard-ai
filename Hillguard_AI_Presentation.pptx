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10B981"/>
                </a:solidFill>
                <a:latin typeface="Calibri"/>
              </a:defRPr>
            </a:pPr>
            <a:r>
              <a:t>HILLGUARD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1F5F9"/>
                </a:solidFill>
                <a:latin typeface="Calibri"/>
              </a:defRPr>
            </a:pPr>
            <a:r>
              <a:t>AI-Powered Landslide Early Warning &amp; Risk Monitoring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Calibri"/>
              </a:defRPr>
            </a:pPr>
            <a:r>
              <a:t>North Eastern Region of India  |  Sikkim Focus Area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Built with Next.js 16  |  FastAPI  |  Random Forest ML  |  MapLibre GL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Calibri"/>
              </a:defRPr>
            </a:pPr>
            <a:r>
              <a:t>Climate-Resilient Governance  •  Disaster Preparedness  •  Loss Reduction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F4444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Calibri"/>
              </a:defRPr>
            </a:pPr>
            <a:r>
              <a:t>Landslides in the North Eastern Region of India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14630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EF4444"/>
                </a:solidFill>
                <a:latin typeface="Calibri"/>
              </a:defRPr>
            </a:pPr>
            <a:r>
              <a:t>1,000+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Lives lost annually</a:t>
            </a:r>
            <a:br/>
            <a:r>
              <a:t>in India to landslides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1645920"/>
            <a:ext cx="2560320" cy="14630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40" y="17830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97316"/>
                </a:solidFill>
                <a:latin typeface="Calibri"/>
              </a:defRPr>
            </a:pPr>
            <a:r>
              <a:t>Sikkim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40" y="22860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Among the most</a:t>
            </a:r>
            <a:br/>
            <a:r>
              <a:t>vulnerable Himalayan states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645920"/>
            <a:ext cx="2560320" cy="14630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7830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EAB308"/>
                </a:solidFill>
                <a:latin typeface="Calibri"/>
              </a:defRPr>
            </a:pPr>
            <a:r>
              <a:t>70%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2860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of NE India is</a:t>
            </a:r>
            <a:br/>
            <a:r>
              <a:t>hilly/mountainous terrain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1645920"/>
            <a:ext cx="2560320" cy="14630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0" y="17830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94A3B8"/>
                </a:solidFill>
                <a:latin typeface="Calibri"/>
              </a:defRPr>
            </a:pPr>
            <a:r>
              <a:t>Limited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22860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Real-time monitoring</a:t>
            </a:r>
            <a:br/>
            <a:r>
              <a:t>&amp; early warning systems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83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1F5F9"/>
                </a:solidFill>
                <a:latin typeface="Calibri"/>
              </a:defRPr>
            </a:pPr>
            <a:r>
              <a:t>Key Challenges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84048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94A3B8"/>
                </a:solidFill>
                <a:latin typeface="Calibri"/>
              </a:defRPr>
            </a:pPr>
            <a:r>
              <a:t>▸  No real-time landslide risk assessment for remote Himalayan regions</a:t>
            </a:r>
          </a:p>
          <a:p>
            <a:pPr>
              <a:spcAft>
                <a:spcPts val="1000"/>
              </a:spcAft>
              <a:defRPr sz="1500">
                <a:solidFill>
                  <a:srgbClr val="94A3B8"/>
                </a:solidFill>
                <a:latin typeface="Calibri"/>
              </a:defRPr>
            </a:pPr>
            <a:r>
              <a:t>▸  Delayed disaster response due to lack of early warning infrastructure</a:t>
            </a:r>
          </a:p>
          <a:p>
            <a:pPr>
              <a:spcAft>
                <a:spcPts val="1000"/>
              </a:spcAft>
              <a:defRPr sz="1500">
                <a:solidFill>
                  <a:srgbClr val="94A3B8"/>
                </a:solidFill>
                <a:latin typeface="Calibri"/>
              </a:defRPr>
            </a:pPr>
            <a:r>
              <a:t>▸  Limited field reporting capabilities in areas with poor connectivity</a:t>
            </a:r>
          </a:p>
          <a:p>
            <a:pPr>
              <a:spcAft>
                <a:spcPts val="1000"/>
              </a:spcAft>
              <a:defRPr sz="1500">
                <a:solidFill>
                  <a:srgbClr val="94A3B8"/>
                </a:solidFill>
                <a:latin typeface="Calibri"/>
              </a:defRPr>
            </a:pPr>
            <a:r>
              <a:t>▸  Fragmented data from weather agencies, sensors, and satellite feeds</a:t>
            </a:r>
          </a:p>
          <a:p>
            <a:pPr>
              <a:spcAft>
                <a:spcPts val="1000"/>
              </a:spcAft>
              <a:defRPr sz="1500">
                <a:solidFill>
                  <a:srgbClr val="94A3B8"/>
                </a:solidFill>
                <a:latin typeface="Calibri"/>
              </a:defRPr>
            </a:pPr>
            <a:r>
              <a:t>▸  Weak climate-resilient governance in the North Eastern Region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0B981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Calibri"/>
              </a:defRPr>
            </a:pPr>
            <a:r>
              <a:t>A Scalable AI-Based Disaster Management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2103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192024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1F5F9"/>
                </a:solidFill>
              </a:defRPr>
            </a:pPr>
            <a:r>
              <a:t>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060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Real-Time GIS</a:t>
            </a:r>
            <a:br/>
            <a:r>
              <a:t>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92608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Interactive risk heatmaps</a:t>
            </a:r>
            <a:br/>
            <a:r>
              <a:t>with MapLibre GL vector tiles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645920"/>
            <a:ext cx="3383280" cy="2103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54879" y="1920240"/>
            <a:ext cx="548640" cy="54864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1F5F9"/>
                </a:solidFill>
              </a:defRPr>
            </a:pPr>
            <a:r>
              <a:t>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79" y="26060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alibri"/>
              </a:defRPr>
            </a:pPr>
            <a:r>
              <a:t>AI/ML Predictive</a:t>
            </a:r>
            <a:br/>
            <a:r>
              <a:t>Analytics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292608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Random Forest model trained</a:t>
            </a:r>
            <a:br/>
            <a:r>
              <a:t>on 510+ Sikkim data points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645920"/>
            <a:ext cx="3383280" cy="2103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503920" y="1920240"/>
            <a:ext cx="548640" cy="54864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1F5F9"/>
                </a:solidFill>
              </a:defRPr>
            </a:pPr>
            <a:r>
              <a:t>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6060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97316"/>
                </a:solidFill>
                <a:latin typeface="Calibri"/>
              </a:defRPr>
            </a:pPr>
            <a:r>
              <a:t>Mobile/Web</a:t>
            </a:r>
            <a:br/>
            <a:r>
              <a:t>Field Reporting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92608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PWA with offline sync</a:t>
            </a:r>
            <a:br/>
            <a:r>
              <a:t>via Dexie.js IndexedDB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114800"/>
            <a:ext cx="3383280" cy="2103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05840" y="4389120"/>
            <a:ext cx="548640" cy="54864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1F5F9"/>
                </a:solidFill>
              </a:defRPr>
            </a:pPr>
            <a:r>
              <a:t>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0749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alibri"/>
              </a:defRPr>
            </a:pPr>
            <a:r>
              <a:t>Weather &amp; Sensor</a:t>
            </a:r>
            <a:br/>
            <a:r>
              <a:t>Integration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39496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Live Open-Meteo API,</a:t>
            </a:r>
            <a:br/>
            <a:r>
              <a:t>15 sensor stations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59" y="4114800"/>
            <a:ext cx="3383280" cy="2103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754879" y="4389120"/>
            <a:ext cx="548640" cy="5486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1F5F9"/>
                </a:solidFill>
              </a:defRPr>
            </a:pPr>
            <a:r>
              <a:t>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79" y="50749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Automated Early</a:t>
            </a:r>
            <a:br/>
            <a:r>
              <a:t>Warning System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79" y="539496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Threshold-based alerts</a:t>
            </a:r>
            <a:br/>
            <a:r>
              <a:t>with push notifications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4114800"/>
            <a:ext cx="3383280" cy="2103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503920" y="438912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1F5F9"/>
                </a:solidFill>
              </a:defRPr>
            </a:pPr>
            <a:r>
              <a:t>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50749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Cloud Architecture</a:t>
            </a:r>
            <a:br/>
            <a:r>
              <a:t>with Offline Sync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539496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Service worker caching,</a:t>
            </a:r>
            <a:br/>
            <a:r>
              <a:t>background sync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8BDF8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▸  Next.js 16.3 (App Router)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▸  React 19.2 + TypeScript 5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▸  Tailwind CSS v4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▸  MapLibre GL 6.6 (Maps)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▸  Recharts 3.10 (Charts)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▸  Dexie.js 4.4 (Offline DB)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▸  Lucide React (Icons)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▸  PWA + Service Worker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1188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97316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64592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▸  Python 3 + FastAPI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▸  scikit-learn (Random Forest)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▸  rasterio (DEM processing)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▸  GeoPandas (Geospatial)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▸  joblib (Model serialization)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▸  Open-Meteo API (Weather)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▸  Pydantic (Validation)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▸  13 REST API endpoints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1188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444"/>
                </a:solidFill>
                <a:latin typeface="Calibri"/>
              </a:defRPr>
            </a:pPr>
            <a:r>
              <a:t>ML &amp;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64592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▸  Random Forest Classifier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▸  100 estimators, max_depth=10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▸  5 terrain features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▸  SRTM DEM (1 arc-second)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▸  Sikkim landslide inventory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▸  510 training samples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▸  87.2% ROC-AUC score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▸  Real-time rainfall boost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303520"/>
            <a:ext cx="2011680" cy="1097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4864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  <a:latin typeface="Calibri"/>
              </a:defRPr>
            </a:pPr>
            <a:r>
              <a:t>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9893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TypeScript Files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17520" y="5303520"/>
            <a:ext cx="2011680" cy="1097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6120" y="54864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8BDF8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59893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App Pages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0" y="5303520"/>
            <a:ext cx="2011680" cy="1097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32120" y="54864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97316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32120" y="59893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Components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0" y="5303520"/>
            <a:ext cx="2011680" cy="1097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18120" y="54864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F4444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59893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API Endpoints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75520" y="5303520"/>
            <a:ext cx="2011680" cy="1097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04120" y="54864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04120" y="59893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Sensor Stations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8BDF8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2286000" cy="1097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0B981"/>
                </a:solidFill>
                <a:latin typeface="Calibri"/>
              </a:defRPr>
            </a:pPr>
            <a:r>
              <a:t>CLIENT LAYER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00400" y="1737360"/>
            <a:ext cx="457200" cy="36576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0" y="141732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▸  Next.js 16 PWA (Mobile + Desktop)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61848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▸  MapLibre GL Risk Maps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819656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▸  Recharts Analytics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020824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▸  Dexie.js Offline Storage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2219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▸  Service Worker Cache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743200"/>
            <a:ext cx="2286000" cy="1097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8346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8BDF8"/>
                </a:solidFill>
                <a:latin typeface="Calibri"/>
              </a:defRPr>
            </a:pPr>
            <a:r>
              <a:t>API LAYER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200400" y="3108960"/>
            <a:ext cx="457200" cy="36576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0" y="278892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▸  FastAPI REST Server (13 endpoints)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99008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▸  Pydantic Request 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3191256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▸  CORS Middleware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3392424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▸  Weather API Proxy (Open-Meteo)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35935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▸  In-memory Alert Engine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114800"/>
            <a:ext cx="2286000" cy="1097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2062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97316"/>
                </a:solidFill>
                <a:latin typeface="Calibri"/>
              </a:defRPr>
            </a:pPr>
            <a:r>
              <a:t>ML LAYER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3200400" y="4480560"/>
            <a:ext cx="457200" cy="365760"/>
          </a:xfrm>
          <a:prstGeom prst="right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0" y="416052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▸  Random Forest Classifier (joblib)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436168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▸  DEM Terrain Analysis (rasterio)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4562856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▸  Real-time Rainfall Integration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4764024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▸  Risk Score Calculation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49651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▸  Grid Prediction Engine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486400"/>
            <a:ext cx="2286000" cy="1097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5778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F4444"/>
                </a:solidFill>
                <a:latin typeface="Calibri"/>
              </a:defRPr>
            </a:pPr>
            <a:r>
              <a:t>DATA LAYER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3200400" y="5852160"/>
            <a:ext cx="457200" cy="365760"/>
          </a:xfrm>
          <a:prstGeom prst="rightArrow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40480" y="553212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▸  SRTM DEM Raster (N27E088.hgt)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573328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▸  Sikkim Landslide GeoJSON Inventory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0" y="5934456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▸  GeoPandas Feature Processing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0" y="6135624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▸  IndexedDB (Offline Reports)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0480" y="63367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▸  Open-Meteo Weather Feed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0B981"/>
                </a:solidFill>
                <a:latin typeface="Calibri"/>
              </a:defRPr>
            </a:pPr>
            <a:r>
              <a:t>DASHBOARD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Real-time command center for disaster monitoring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1737360" cy="9144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F4444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3317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Critical Zones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77440" y="1645920"/>
            <a:ext cx="1737360" cy="9144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06040" y="18288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97316"/>
                </a:solidFill>
                <a:latin typeface="Calibri"/>
              </a:defRPr>
            </a:pPr>
            <a:r>
              <a:t>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23317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High Risk Zones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645920"/>
            <a:ext cx="1737360" cy="9144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8288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AB308"/>
                </a:solidFill>
                <a:latin typeface="Calibri"/>
              </a:defRPr>
            </a:pPr>
            <a:r>
              <a:t>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3317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Active Reports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45920"/>
            <a:ext cx="1737360" cy="9144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8288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94A3B8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3317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Affected Roads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645920"/>
            <a:ext cx="1737360" cy="9144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18288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3317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Sensors Online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1645920"/>
            <a:ext cx="1737360" cy="9144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87000" y="18288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F4444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23317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Alerts Active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2743200"/>
            <a:ext cx="3657600" cy="34747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29260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4A3B8"/>
                </a:solidFill>
                <a:latin typeface="Calibri"/>
              </a:defRPr>
            </a:pPr>
            <a:r>
              <a:t>OVERALL RISK ASSESSMENT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38328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97316"/>
                </a:solidFill>
                <a:latin typeface="Calibri"/>
              </a:defRPr>
            </a:pPr>
            <a:r>
              <a:t>72/100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1148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97316"/>
                </a:solidFill>
                <a:latin typeface="Calibri"/>
              </a:defRPr>
            </a:pPr>
            <a:r>
              <a:t>HIGH RISK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6634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7-day Rainfall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46634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97316"/>
                </a:solidFill>
                <a:latin typeface="Calibri"/>
              </a:defRPr>
            </a:pPr>
            <a:r>
              <a:t>78%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864608"/>
            <a:ext cx="2926080" cy="7315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" y="4864608"/>
            <a:ext cx="2282342" cy="73152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0292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Soil Moisture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50292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97316"/>
                </a:solidFill>
                <a:latin typeface="Calibri"/>
              </a:defRPr>
            </a:pPr>
            <a:r>
              <a:t>72%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5230368"/>
            <a:ext cx="2926080" cy="7315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31520" y="5230368"/>
            <a:ext cx="2106777" cy="73152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39495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Slope Angle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6080" y="5394959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AB308"/>
                </a:solidFill>
                <a:latin typeface="Calibri"/>
              </a:defRPr>
            </a:pPr>
            <a:r>
              <a:t>65%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5596127"/>
            <a:ext cx="2926080" cy="7315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5596127"/>
            <a:ext cx="1901952" cy="73152"/>
          </a:xfrm>
          <a:prstGeom prst="round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57607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Historical Activity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26080" y="57607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F4444"/>
                </a:solidFill>
                <a:latin typeface="Calibri"/>
              </a:defRPr>
            </a:pPr>
            <a:r>
              <a:t>82%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5961888"/>
            <a:ext cx="2926080" cy="7315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31520" y="5961888"/>
            <a:ext cx="2399385" cy="73152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389120" y="2743200"/>
            <a:ext cx="3657600" cy="34747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29260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4A3B8"/>
                </a:solidFill>
                <a:latin typeface="Calibri"/>
              </a:defRPr>
            </a:pPr>
            <a:r>
              <a:t>CURRENT WEATHER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63440" y="33832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🌡  Temperature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75120" y="33832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8BDF8"/>
                </a:solidFill>
                <a:latin typeface="Calibri"/>
              </a:defRPr>
            </a:pPr>
            <a:r>
              <a:t>24°C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63440" y="38862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🌧  Rainfall (24h)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75120" y="38862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8BDF8"/>
                </a:solidFill>
                <a:latin typeface="Calibri"/>
              </a:defRPr>
            </a:pPr>
            <a:r>
              <a:t>42mm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63440" y="43891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💧  Humidity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75120" y="43891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10B981"/>
                </a:solidFill>
                <a:latin typeface="Calibri"/>
              </a:defRPr>
            </a:pPr>
            <a:r>
              <a:t>78%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63440" y="48920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💨  Wind Speed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75120" y="48920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Calibri"/>
              </a:defRPr>
            </a:pPr>
            <a:r>
              <a:t>12 km/h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663440" y="53949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☁  Condition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75120" y="53949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Calibri"/>
              </a:defRPr>
            </a:pPr>
            <a:r>
              <a:t>Overcast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321040" y="2743200"/>
            <a:ext cx="3566160" cy="34747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03920" y="2926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4A3B8"/>
                </a:solidFill>
                <a:latin typeface="Calibri"/>
              </a:defRPr>
            </a:pPr>
            <a:r>
              <a:t>ACTIVE ALERTS</a:t>
            </a:r>
          </a:p>
        </p:txBody>
      </p:sp>
      <p:sp>
        <p:nvSpPr>
          <p:cNvPr id="56" name="Oval 55"/>
          <p:cNvSpPr/>
          <p:nvPr/>
        </p:nvSpPr>
        <p:spPr>
          <a:xfrm>
            <a:off x="8503920" y="3429000"/>
            <a:ext cx="137160" cy="13716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732520" y="33832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1F5F9"/>
                </a:solidFill>
                <a:latin typeface="Calibri"/>
              </a:defRPr>
            </a:pPr>
            <a:r>
              <a:t>Gangtok-Mangan Road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732520" y="358444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F4444"/>
                </a:solidFill>
                <a:latin typeface="Calibri"/>
              </a:defRPr>
            </a:pPr>
            <a:r>
              <a:t>CRITICAL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15600" y="342900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EF4444"/>
                </a:solidFill>
                <a:latin typeface="Calibri"/>
              </a:defRPr>
            </a:pPr>
            <a:r>
              <a:t>92/100</a:t>
            </a:r>
          </a:p>
        </p:txBody>
      </p:sp>
      <p:sp>
        <p:nvSpPr>
          <p:cNvPr id="60" name="Oval 59"/>
          <p:cNvSpPr/>
          <p:nvPr/>
        </p:nvSpPr>
        <p:spPr>
          <a:xfrm>
            <a:off x="8503920" y="3977640"/>
            <a:ext cx="137160" cy="13716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732520" y="3931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1F5F9"/>
                </a:solidFill>
                <a:latin typeface="Calibri"/>
              </a:defRPr>
            </a:pPr>
            <a:r>
              <a:t>Dikiling Bazaar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732520" y="413308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F4444"/>
                </a:solidFill>
                <a:latin typeface="Calibri"/>
              </a:defRPr>
            </a:pPr>
            <a:r>
              <a:t>CRITICAL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515600" y="39776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EF4444"/>
                </a:solidFill>
                <a:latin typeface="Calibri"/>
              </a:defRPr>
            </a:pPr>
            <a:r>
              <a:t>89/100</a:t>
            </a:r>
          </a:p>
        </p:txBody>
      </p:sp>
      <p:sp>
        <p:nvSpPr>
          <p:cNvPr id="64" name="Oval 63"/>
          <p:cNvSpPr/>
          <p:nvPr/>
        </p:nvSpPr>
        <p:spPr>
          <a:xfrm>
            <a:off x="8503920" y="4526280"/>
            <a:ext cx="137160" cy="13716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732520" y="44805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1F5F9"/>
                </a:solidFill>
                <a:latin typeface="Calibri"/>
              </a:defRPr>
            </a:pPr>
            <a:r>
              <a:t>Soreng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732520" y="468172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97316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515600" y="45262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97316"/>
                </a:solidFill>
                <a:latin typeface="Calibri"/>
              </a:defRPr>
            </a:pPr>
            <a:r>
              <a:t>76/100</a:t>
            </a:r>
          </a:p>
        </p:txBody>
      </p:sp>
      <p:sp>
        <p:nvSpPr>
          <p:cNvPr id="68" name="Oval 67"/>
          <p:cNvSpPr/>
          <p:nvPr/>
        </p:nvSpPr>
        <p:spPr>
          <a:xfrm>
            <a:off x="8503920" y="5074920"/>
            <a:ext cx="137160" cy="13716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732520" y="50292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1F5F9"/>
                </a:solidFill>
                <a:latin typeface="Calibri"/>
              </a:defRPr>
            </a:pPr>
            <a:r>
              <a:t>Gyalshing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732520" y="523036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97316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515600" y="507492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97316"/>
                </a:solidFill>
                <a:latin typeface="Calibri"/>
              </a:defRPr>
            </a:pPr>
            <a:r>
              <a:t>73/100</a:t>
            </a:r>
          </a:p>
        </p:txBody>
      </p:sp>
      <p:sp>
        <p:nvSpPr>
          <p:cNvPr id="72" name="Oval 71"/>
          <p:cNvSpPr/>
          <p:nvPr/>
        </p:nvSpPr>
        <p:spPr>
          <a:xfrm>
            <a:off x="8503920" y="5623560"/>
            <a:ext cx="137160" cy="13716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732520" y="55778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1F5F9"/>
                </a:solidFill>
                <a:latin typeface="Calibri"/>
              </a:defRPr>
            </a:pPr>
            <a:r>
              <a:t>Rangpo Bridge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732520" y="577900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97316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515600" y="56235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97316"/>
                </a:solidFill>
                <a:latin typeface="Calibri"/>
              </a:defRPr>
            </a:pPr>
            <a:r>
              <a:t>71/100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0B981"/>
                </a:solidFill>
                <a:latin typeface="Calibri"/>
              </a:defRPr>
            </a:pPr>
            <a:r>
              <a:t>INTERACTIVE 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Full-screen GIS dashboard with real-time risk visualization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7315200" cy="4754880"/>
          </a:xfrm>
          <a:prstGeom prst="roundRect">
            <a:avLst/>
          </a:prstGeom>
          <a:solidFill>
            <a:srgbClr val="0C132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4748B"/>
                </a:solidFill>
                <a:latin typeface="Calibri"/>
              </a:defRPr>
            </a:pPr>
            <a:r>
              <a:t>🗺  MapLibre GL</a:t>
            </a:r>
            <a:br/>
            <a:r>
              <a:t>Interactive Risk Heatmap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840480" cy="2286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0" y="17830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4A3B8"/>
                </a:solidFill>
                <a:latin typeface="Calibri"/>
              </a:defRPr>
            </a:pPr>
            <a:r>
              <a:t>MAP LAYERS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2194560"/>
            <a:ext cx="320040" cy="1828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0" y="217627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1F5F9"/>
                </a:solidFill>
                <a:latin typeface="Calibri"/>
              </a:defRPr>
            </a:pPr>
            <a:r>
              <a:t>Risk Markers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2514600"/>
            <a:ext cx="320040" cy="1828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0" y="249631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1F5F9"/>
                </a:solidFill>
                <a:latin typeface="Calibri"/>
              </a:defRPr>
            </a:pPr>
            <a:r>
              <a:t>Heatmap Overlay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2834639"/>
            <a:ext cx="320040" cy="1828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0" y="2816351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1F5F9"/>
                </a:solidFill>
                <a:latin typeface="Calibri"/>
              </a:defRPr>
            </a:pPr>
            <a:r>
              <a:t>Sensor Stations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3154679"/>
            <a:ext cx="320040" cy="18288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0" y="3136391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Sikkim Boundary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3474720"/>
            <a:ext cx="320040" cy="18288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0" y="345643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Road Network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4114800"/>
            <a:ext cx="3840480" cy="2286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42519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4A3B8"/>
                </a:solidFill>
                <a:latin typeface="Calibri"/>
              </a:defRPr>
            </a:pPr>
            <a:r>
              <a:t>MAP FEATURES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66344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▸  Click anywhere for instant ML risk evaluation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▸  Risk heatmap grid (0.05° resolution)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▸  Real-time sensor markers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▸  Sikkim boundary overlay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▸  Location search &amp; geocoding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▸  Terrain analysis popup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97316"/>
                </a:solidFill>
                <a:latin typeface="Calibri"/>
              </a:defRPr>
            </a:pPr>
            <a:r>
              <a:t>AI/ML PREDICTIVE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Random Forest Classifier for Landslide Susceptibility Mapping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548640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97316"/>
                </a:solidFill>
                <a:latin typeface="Calibri"/>
              </a:defRPr>
            </a:pPr>
            <a:r>
              <a:t>MODEL SPECIFICATIONS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4A3B8"/>
                </a:solidFill>
                <a:latin typeface="Calibri"/>
              </a:defRPr>
            </a:pPr>
            <a:r>
              <a:t>Algorithm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22860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Calibri"/>
              </a:defRPr>
            </a:pPr>
            <a:r>
              <a:t>Random Forest Classifier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4A3B8"/>
                </a:solidFill>
                <a:latin typeface="Calibri"/>
              </a:defRPr>
            </a:pPr>
            <a:r>
              <a:t>Estimators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6974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Calibri"/>
              </a:defRPr>
            </a:pPr>
            <a:r>
              <a:t>100 trees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089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4A3B8"/>
                </a:solidFill>
                <a:latin typeface="Calibri"/>
              </a:defRPr>
            </a:pPr>
            <a:r>
              <a:t>Max Depth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1089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Calibri"/>
              </a:defRPr>
            </a:pPr>
            <a:r>
              <a:t>10 levels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5204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4A3B8"/>
                </a:solidFill>
                <a:latin typeface="Calibri"/>
              </a:defRPr>
            </a:pPr>
            <a:r>
              <a:t>Train/Test Split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5204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Calibri"/>
              </a:defRPr>
            </a:pPr>
            <a:r>
              <a:t>80% / 20% (stratified)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319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4A3B8"/>
                </a:solidFill>
                <a:latin typeface="Calibri"/>
              </a:defRPr>
            </a:pPr>
            <a:r>
              <a:t>Training Samples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9319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Calibri"/>
              </a:defRPr>
            </a:pPr>
            <a:r>
              <a:t>510 (255 positive + 255 negative)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3434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4A3B8"/>
                </a:solidFill>
                <a:latin typeface="Calibri"/>
              </a:defRPr>
            </a:pPr>
            <a:r>
              <a:t>ROC-AUC Score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43434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Calibri"/>
              </a:defRPr>
            </a:pPr>
            <a:r>
              <a:t>87.2%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7548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4A3B8"/>
                </a:solidFill>
                <a:latin typeface="Calibri"/>
              </a:defRPr>
            </a:pPr>
            <a:r>
              <a:t>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7548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Calibri"/>
              </a:defRPr>
            </a:pPr>
            <a:r>
              <a:t>5 terrain-based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1663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4A3B8"/>
                </a:solidFill>
                <a:latin typeface="Calibri"/>
              </a:defRPr>
            </a:pPr>
            <a:r>
              <a:t>Target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51663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Calibri"/>
              </a:defRPr>
            </a:pPr>
            <a:r>
              <a:t>Binary: is_landslide (0/1)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645920"/>
            <a:ext cx="5669280" cy="2194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17830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ML FEATURES &amp; IMPORTANCE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2860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Elevation (m)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778240" y="2331720"/>
            <a:ext cx="1280160" cy="1371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49840" y="228600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Calibri"/>
              </a:defRPr>
            </a:pPr>
            <a:r>
              <a:t>0.35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257860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Slope Angle (°)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778240" y="2624328"/>
            <a:ext cx="1024128" cy="1371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93807" y="257860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Calibri"/>
              </a:defRPr>
            </a:pPr>
            <a:r>
              <a:t>0.28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287121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Rainfall (mm)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778240" y="2916936"/>
            <a:ext cx="658368" cy="13716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28048" y="2871216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8BDF8"/>
                </a:solidFill>
                <a:latin typeface="Calibri"/>
              </a:defRPr>
            </a:pPr>
            <a:r>
              <a:t>0.18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3163824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Aspect Direction (°)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78240" y="3209544"/>
            <a:ext cx="438912" cy="13716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08592" y="316382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8BDF8"/>
                </a:solidFill>
                <a:latin typeface="Calibri"/>
              </a:defRPr>
            </a:pPr>
            <a:r>
              <a:t>0.12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345643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Latitude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778240" y="3502152"/>
            <a:ext cx="256032" cy="13716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25711" y="345643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Calibri"/>
              </a:defRPr>
            </a:pPr>
            <a:r>
              <a:t>0.07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4023360"/>
            <a:ext cx="5669280" cy="2377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41605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alibri"/>
              </a:defRPr>
            </a:pPr>
            <a:r>
              <a:t>DATA PIPELINE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457200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1. Raw shapefile ingestion (Google Earth + Cartosat)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2. Preprocessing &amp; negative sampling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3. Terrain feature extraction from SRTM DEM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4. Model training with stratified split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5. Real-time prediction with rainfall boost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6. Grid-based heatmap generation (0.05° resolution)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8BDF8"/>
                </a:solidFill>
                <a:latin typeface="Calibri"/>
              </a:defRPr>
            </a:pPr>
            <a:r>
              <a:t>REST API ENDPOINTS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13 FastAPI endpoints powering the entire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73152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276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1F5F9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57276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1F5F9"/>
                </a:solidFill>
                <a:latin typeface="Consolas"/>
              </a:defRPr>
            </a:pPr>
            <a:r>
              <a:t>/api/evaluate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810512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ML terrain risk evaluation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240280"/>
            <a:ext cx="73152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3134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1F5F9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25856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1F5F9"/>
                </a:solidFill>
                <a:latin typeface="Consolas"/>
              </a:defRPr>
            </a:pPr>
            <a:r>
              <a:t>/api/map-data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496312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Danger zones + live reports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926080"/>
            <a:ext cx="73152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999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1F5F9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94436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1F5F9"/>
                </a:solidFill>
                <a:latin typeface="Consolas"/>
              </a:defRPr>
            </a:pPr>
            <a:r>
              <a:t>/api/report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182112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Submit field report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611880"/>
            <a:ext cx="73152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6850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1F5F9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63016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1F5F9"/>
                </a:solidFill>
                <a:latin typeface="Consolas"/>
              </a:defRPr>
            </a:pPr>
            <a:r>
              <a:t>/api/reports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867912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List reports (filtered)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297680"/>
            <a:ext cx="73152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3708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1F5F9"/>
                </a:solidFill>
                <a:latin typeface="Calibri"/>
              </a:defRPr>
            </a:pPr>
            <a:r>
              <a:t>PATCH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31596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1F5F9"/>
                </a:solidFill>
                <a:latin typeface="Consolas"/>
              </a:defRPr>
            </a:pPr>
            <a:r>
              <a:t>/api/reports/{id}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553712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Update report status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983480"/>
            <a:ext cx="731520" cy="45720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50566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1F5F9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00176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1F5F9"/>
                </a:solidFill>
                <a:latin typeface="Consolas"/>
              </a:defRPr>
            </a:pPr>
            <a:r>
              <a:t>/api/dashboard/stats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5239512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Real-time dashboard metrics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669280"/>
            <a:ext cx="731520" cy="45720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57424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1F5F9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568756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1F5F9"/>
                </a:solidFill>
                <a:latin typeface="Consolas"/>
              </a:defRPr>
            </a:pPr>
            <a:r>
              <a:t>/api/dashboard/risk-summary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5925312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Overall risk score + factors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1554480"/>
            <a:ext cx="731520" cy="45720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16276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1F5F9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0" y="157276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1F5F9"/>
                </a:solidFill>
                <a:latin typeface="Consolas"/>
              </a:defRPr>
            </a:pPr>
            <a:r>
              <a:t>/api/weather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0" y="1810512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Live Open-Meteo weather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2240280"/>
            <a:ext cx="731520" cy="4572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23134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1F5F9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3760" y="225856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1F5F9"/>
                </a:solidFill>
                <a:latin typeface="Consolas"/>
              </a:defRPr>
            </a:pPr>
            <a:r>
              <a:t>/api/alerts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23760" y="2496312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Active alert zones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2926080"/>
            <a:ext cx="731520" cy="4572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46520" y="2999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1F5F9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23760" y="294436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1F5F9"/>
                </a:solidFill>
                <a:latin typeface="Consolas"/>
              </a:defRPr>
            </a:pPr>
            <a:r>
              <a:t>/api/analytics/predict-grid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23760" y="3182112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ML heatmap grid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0" y="3611880"/>
            <a:ext cx="731520" cy="4572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46520" y="36850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1F5F9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23760" y="363016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1F5F9"/>
                </a:solidFill>
                <a:latin typeface="Consolas"/>
              </a:defRPr>
            </a:pPr>
            <a:r>
              <a:t>/api/analytics/trend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23760" y="3867912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30-day risk trend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00800" y="4297680"/>
            <a:ext cx="731520" cy="45720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46520" y="43708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1F5F9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23760" y="431596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1F5F9"/>
                </a:solidFill>
                <a:latin typeface="Consolas"/>
              </a:defRPr>
            </a:pPr>
            <a:r>
              <a:t>/api/sensor-data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23760" y="4553712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15 sensor stations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00800" y="4983480"/>
            <a:ext cx="731520" cy="45720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46520" y="50566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1F5F9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23760" y="500176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1F5F9"/>
                </a:solidFill>
                <a:latin typeface="Consolas"/>
              </a:defRPr>
            </a:pPr>
            <a:r>
              <a:t>/api/infrastructure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23760" y="5239512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15 infrastructure items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97316"/>
                </a:solidFill>
                <a:latin typeface="Calibri"/>
              </a:defRPr>
            </a:pPr>
            <a:r>
              <a:t>PWA &amp; MOBILE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Installable progressive web app with full offline support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00400" cy="475488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  <a:latin typeface="Calibri"/>
              </a:defRPr>
            </a:pPr>
            <a:r>
              <a:t>HILLGUARD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669280"/>
            <a:ext cx="3200400" cy="4572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74243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0B981"/>
                </a:solidFill>
                <a:latin typeface="Calibri"/>
              </a:defRPr>
            </a:pPr>
            <a:r>
              <a:t>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574243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Reports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574243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Alerts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79" y="574243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More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0" y="1737360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16459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1F5F9"/>
                </a:solidFill>
                <a:latin typeface="Calibri"/>
              </a:defRPr>
            </a:pPr>
            <a:r>
              <a:t>Install to Home Screen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1965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One-tap install prompt, native app experience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0" y="2514600"/>
            <a:ext cx="182880" cy="1828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92040" y="24231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1F5F9"/>
                </a:solidFill>
                <a:latin typeface="Calibri"/>
              </a:defRPr>
            </a:pPr>
            <a:r>
              <a:t>Offline Data Sync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27432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Dexie.js IndexedDB stores reports locally, auto-syncs on reconnect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0" y="3291840"/>
            <a:ext cx="182880" cy="18288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92040" y="32004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1F5F9"/>
                </a:solidFill>
                <a:latin typeface="Calibri"/>
              </a:defRPr>
            </a:pPr>
            <a:r>
              <a:t>Service Worker Caching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35204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Cache-first strategy for static assets, background API fetch</a:t>
            </a:r>
          </a:p>
        </p:txBody>
      </p:sp>
      <p:sp>
        <p:nvSpPr>
          <p:cNvPr id="20" name="Oval 19"/>
          <p:cNvSpPr/>
          <p:nvPr/>
        </p:nvSpPr>
        <p:spPr>
          <a:xfrm>
            <a:off x="4572000" y="4069079"/>
            <a:ext cx="182880" cy="18288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92040" y="3977639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1F5F9"/>
                </a:solidFill>
                <a:latin typeface="Calibri"/>
              </a:defRPr>
            </a:pPr>
            <a:r>
              <a:t>Push Notifications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4297679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Browser push alerts for critical risk thresholds</a:t>
            </a:r>
          </a:p>
        </p:txBody>
      </p:sp>
      <p:sp>
        <p:nvSpPr>
          <p:cNvPr id="23" name="Oval 22"/>
          <p:cNvSpPr/>
          <p:nvPr/>
        </p:nvSpPr>
        <p:spPr>
          <a:xfrm>
            <a:off x="4572000" y="4846320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92040" y="47548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1F5F9"/>
                </a:solidFill>
                <a:latin typeface="Calibri"/>
              </a:defRPr>
            </a:pPr>
            <a:r>
              <a:t>Responsive Design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50749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Mobile bottom nav, collapsible sidebar, touch-optimized</a:t>
            </a:r>
          </a:p>
        </p:txBody>
      </p:sp>
      <p:sp>
        <p:nvSpPr>
          <p:cNvPr id="26" name="Oval 25"/>
          <p:cNvSpPr/>
          <p:nvPr/>
        </p:nvSpPr>
        <p:spPr>
          <a:xfrm>
            <a:off x="4572000" y="5623560"/>
            <a:ext cx="182880" cy="18288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92040" y="55321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1F5F9"/>
                </a:solidFill>
                <a:latin typeface="Calibri"/>
              </a:defRPr>
            </a:pPr>
            <a:r>
              <a:t>Safe Area Support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92040" y="58521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iPhone notch handling with env(safe-area-inset)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0B981"/>
                </a:solidFill>
                <a:latin typeface="Calibri"/>
              </a:defRPr>
            </a:pPr>
            <a:r>
              <a:t>KEY FEATURES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3566160" cy="11887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137160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1F5F9"/>
                </a:solidFill>
              </a:defRPr>
            </a:pPr>
            <a:r>
              <a:t>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57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AI-Powered Predictions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3017520" cy="-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Random Forest ML model with 87.2% ROC-AUC, real-time rainfall integration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097280"/>
            <a:ext cx="3566160" cy="11887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0" y="1371600"/>
            <a:ext cx="548640" cy="54864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1F5F9"/>
                </a:solidFill>
              </a:defRPr>
            </a:pPr>
            <a:r>
              <a:t>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057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alibri"/>
              </a:defRPr>
            </a:pPr>
            <a:r>
              <a:t>Interactive Risk Maps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377440"/>
            <a:ext cx="3017520" cy="-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MapLibre GL with heatmap overlays, layer controls, click-to-evaluate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097280"/>
            <a:ext cx="3566160" cy="11887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80" y="1371600"/>
            <a:ext cx="548640" cy="54864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1F5F9"/>
                </a:solidFill>
              </a:defRPr>
            </a:pPr>
            <a:r>
              <a:t>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057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97316"/>
                </a:solidFill>
                <a:latin typeface="Calibri"/>
              </a:defRPr>
            </a:pPr>
            <a:r>
              <a:t>Live Monitoring 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377440"/>
            <a:ext cx="3017520" cy="-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Real-time weather, sensor feeds, risk trends with auto-refresh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468880"/>
            <a:ext cx="3566160" cy="11887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274320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1F5F9"/>
                </a:solidFill>
              </a:defRPr>
            </a:pPr>
            <a:r>
              <a:t>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4290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Progressive Web 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749040"/>
            <a:ext cx="3017520" cy="-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Installable, offline-capable, mobile-optimized with bottom navigation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2468880"/>
            <a:ext cx="3566160" cy="11887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72000" y="2743200"/>
            <a:ext cx="548640" cy="54864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1F5F9"/>
                </a:solidFill>
              </a:defRPr>
            </a:pPr>
            <a:r>
              <a:t>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4290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alibri"/>
              </a:defRPr>
            </a:pPr>
            <a:r>
              <a:t>Field Reporting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749040"/>
            <a:ext cx="3017520" cy="-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Submit reports offline, auto-sync, severity classification, status tracking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2468880"/>
            <a:ext cx="3566160" cy="11887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412480" y="2743200"/>
            <a:ext cx="548640" cy="5486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1F5F9"/>
                </a:solidFill>
              </a:defRPr>
            </a:pPr>
            <a:r>
              <a:t>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34290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Early Warning System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3749040"/>
            <a:ext cx="3017520" cy="-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Threshold-based alerts (CRITICAL &gt;80, HIGH &gt;60), push notifications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840480"/>
            <a:ext cx="3566160" cy="11887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1520" y="4114800"/>
            <a:ext cx="548640" cy="54864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1F5F9"/>
                </a:solidFill>
              </a:defRPr>
            </a:pPr>
            <a:r>
              <a:t>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8006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97316"/>
                </a:solidFill>
                <a:latin typeface="Calibri"/>
              </a:defRPr>
            </a:pPr>
            <a:r>
              <a:t>Sensor Integration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120640"/>
            <a:ext cx="3017520" cy="-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15 simulated stations: temperature, soil moisture, rainfall, vibration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97680" y="3840480"/>
            <a:ext cx="3566160" cy="11887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72000" y="4114800"/>
            <a:ext cx="548640" cy="54864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1F5F9"/>
                </a:solidFill>
              </a:defRPr>
            </a:pPr>
            <a:r>
              <a:t>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48006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4A3B8"/>
                </a:solidFill>
                <a:latin typeface="Calibri"/>
              </a:defRPr>
            </a:pPr>
            <a:r>
              <a:t>Infrastructure Monitoring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5120640"/>
            <a:ext cx="3017520" cy="-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Roads, bridges, hospitals, schools status tracking with risk levels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38160" y="3840480"/>
            <a:ext cx="3566160" cy="11887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412480" y="411480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1F5F9"/>
                </a:solidFill>
              </a:defRPr>
            </a:pPr>
            <a:r>
              <a:t>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48006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Analytics Engine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5120640"/>
            <a:ext cx="3017520" cy="-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Location scanner, feature importance, risk distribution, trend analysis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212080"/>
            <a:ext cx="3566160" cy="11887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31520" y="5486400"/>
            <a:ext cx="548640" cy="54864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1F5F9"/>
                </a:solidFill>
              </a:defRPr>
            </a:pPr>
            <a:r>
              <a:t>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61722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alibri"/>
              </a:defRPr>
            </a:pPr>
            <a:r>
              <a:t>Offline-First Design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6492240"/>
            <a:ext cx="3017520" cy="-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Dexie.js IndexedDB, service worker cache, background sync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297680" y="5212080"/>
            <a:ext cx="3566160" cy="11887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572000" y="5486400"/>
            <a:ext cx="548640" cy="54864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1F5F9"/>
                </a:solidFill>
              </a:defRPr>
            </a:pPr>
            <a:r>
              <a:t>🌙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61722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97316"/>
                </a:solidFill>
                <a:latin typeface="Calibri"/>
              </a:defRPr>
            </a:pPr>
            <a:r>
              <a:t>Dark Theme UI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0" y="6492240"/>
            <a:ext cx="3017520" cy="-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Slate-950 dark theme, emerald accents, responsive glassmorphism design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138160" y="5212080"/>
            <a:ext cx="3566160" cy="11887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412480" y="5486400"/>
            <a:ext cx="548640" cy="54864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1F5F9"/>
                </a:solidFill>
              </a:defRPr>
            </a:pPr>
            <a:r>
              <a:t>🔒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0" y="61722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4A3B8"/>
                </a:solidFill>
                <a:latin typeface="Calibri"/>
              </a:defRPr>
            </a:pPr>
            <a:r>
              <a:t>CORS-Enabled API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12480" y="6492240"/>
            <a:ext cx="3017520" cy="-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FastAPI with full CORS, Pydantic validation, 13 REST endpoints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8BDF8"/>
                </a:solidFill>
                <a:latin typeface="Calibri"/>
              </a:defRPr>
            </a:pPr>
            <a:r>
              <a:t>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Roadmap for scaling to a production-grade national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65176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1F5F9"/>
                </a:solidFill>
                <a:latin typeface="Calibri"/>
              </a:defRPr>
            </a:pPr>
            <a:r>
              <a:t>Core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2286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▸  Enhanced ML model with deep learning (LSTM/CNN)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▸  Real IMD API integration (replacing Open-Meteo)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▸  Satellite feed processing (Sentinel-2, Landsat)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▸  PostgreSQL + PostGIS for spatial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645920"/>
            <a:ext cx="265176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783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057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1F5F9"/>
                </a:solidFill>
                <a:latin typeface="Calibri"/>
              </a:defRPr>
            </a:pPr>
            <a:r>
              <a:t>Scale &amp; Connect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560320"/>
            <a:ext cx="2286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▸  Expand to all NE India states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▸  Real IoT sensor network deployment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▸  SMS alerts via MSG91/Twilio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▸  WhatsApp bot for rural communities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645920"/>
            <a:ext cx="265176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783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97316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057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1F5F9"/>
                </a:solidFill>
                <a:latin typeface="Calibri"/>
              </a:defRPr>
            </a:pPr>
            <a:r>
              <a:t>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560320"/>
            <a:ext cx="2286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▸  Deep learning rainfall forecasting (LSTM)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▸  Computer vision for satellite imagery analysis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▸  Real-time slope stability monitoring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▸  Automated drone deployment for survey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645920"/>
            <a:ext cx="265176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0" y="1783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Calibri"/>
              </a:defRPr>
            </a:pPr>
            <a:r>
              <a:t>PHASE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2057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1F5F9"/>
                </a:solidFill>
                <a:latin typeface="Calibri"/>
              </a:defRPr>
            </a:pPr>
            <a:r>
              <a:t>Governance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2560320"/>
            <a:ext cx="2286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▸  Government dashboard integration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▸  Disaster response coordination module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▸  Public API for researchers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▸  Multi-language support (Hindi, Nepali, Sikkimese)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0B981"/>
                </a:solidFill>
                <a:latin typeface="Calibri"/>
              </a:defRPr>
            </a:pPr>
            <a:r>
              <a:t>HOW TO RUN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486400" cy="2286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97316"/>
                </a:solidFill>
                <a:latin typeface="Calibri"/>
              </a:defRPr>
            </a:pPr>
            <a:r>
              <a:t>Backend (FastAPI)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B981"/>
                </a:solidFill>
                <a:latin typeface="Consolas"/>
              </a:defRPr>
            </a:pPr>
            <a:r>
              <a:t>$ cd hillguard-ai</a:t>
            </a:r>
            <a:br/>
            <a:r>
              <a:t>$ python3 -m uvicorn src.api.main:app --reload --port 8000</a:t>
            </a:r>
            <a:br/>
            <a:br/>
            <a:r>
              <a:t># API docs at http://localhost:8000/docs</a:t>
            </a:r>
            <a:br/>
            <a:r>
              <a:t># 13 endpoints available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840480"/>
            <a:ext cx="5486400" cy="2286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97763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Calibri"/>
              </a:defRPr>
            </a:pPr>
            <a:r>
              <a:t>Frontend (Next.js)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43484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B981"/>
                </a:solidFill>
                <a:latin typeface="Consolas"/>
              </a:defRPr>
            </a:pPr>
            <a:r>
              <a:t>$ cd hillguard-ai/frontend</a:t>
            </a:r>
            <a:br/>
            <a:r>
              <a:t>$ npm install</a:t>
            </a:r>
            <a:br/>
            <a:r>
              <a:t>$ npm run dev</a:t>
            </a:r>
            <a:br/>
            <a:br/>
            <a:r>
              <a:t># App at http://localhost:3000</a:t>
            </a:r>
            <a:br/>
            <a:r>
              <a:t># PWA installable on mobile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66928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Project 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65960"/>
            <a:ext cx="5303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hillguard-ai/</a:t>
            </a:r>
            <a:br/>
            <a:r>
              <a:t>├── frontend/           # Next.js 16 PWA</a:t>
            </a:r>
            <a:br/>
            <a:r>
              <a:t>│   ├── app/            # 7 page routes</a:t>
            </a:r>
            <a:br/>
            <a:r>
              <a:t>│   ├── components/     # 14 components</a:t>
            </a:r>
            <a:br/>
            <a:r>
              <a:t>│   ├── lib/            # API client, DB, nav</a:t>
            </a:r>
            <a:br/>
            <a:r>
              <a:t>│   └── public/         # PWA manifest, SW</a:t>
            </a:r>
            <a:br/>
            <a:r>
              <a:t>├── src/</a:t>
            </a:r>
            <a:br/>
            <a:r>
              <a:t>│   ├── api/main.py     # FastAPI (13 endpoints)</a:t>
            </a:r>
            <a:br/>
            <a:r>
              <a:t>│   ├── models/         # ML training + model</a:t>
            </a:r>
            <a:br/>
            <a:r>
              <a:t>│   └── data/           # Preprocessing pipeline</a:t>
            </a:r>
            <a:br/>
            <a:r>
              <a:t>├── data/</a:t>
            </a:r>
            <a:br/>
            <a:r>
              <a:t>│   ├── geospatial/     # Sikkim boundary</a:t>
            </a:r>
            <a:br/>
            <a:r>
              <a:t>│   ├── terrain/        # SRTM DEM raster</a:t>
            </a:r>
            <a:br/>
            <a:r>
              <a:t>│   └── landslides/     # Inventory data</a:t>
            </a:r>
            <a:br/>
            <a:r>
              <a:t>└── app.py              # Streamlit prototype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10B981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1F5F9"/>
                </a:solidFill>
                <a:latin typeface="Calibri"/>
              </a:defRPr>
            </a:pPr>
            <a:r>
              <a:t>HILLGUARD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Calibri"/>
              </a:defRPr>
            </a:pPr>
            <a:r>
              <a:t>Building Climate-Resilient Governance for the North Eastern Region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4754880"/>
            <a:ext cx="1828800" cy="9144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14600" y="49377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  <a:latin typeface="Calibri"/>
              </a:defRPr>
            </a:pPr>
            <a: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54406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TypeScript Files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4754880"/>
            <a:ext cx="1828800" cy="9144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49377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54406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App Pages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4754880"/>
            <a:ext cx="1828800" cy="9144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49377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54406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API Endpoints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5359" y="4754880"/>
            <a:ext cx="1828800" cy="9144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59" y="49377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  <a:latin typeface="Calibri"/>
              </a:defRPr>
            </a:pPr>
            <a:r>
              <a:t>87.2%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59" y="54406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ML Accuracy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